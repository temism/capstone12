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9" Type="http://schemas.openxmlformats.org/officeDocument/2006/relationships/font" Target="fonts/be811ca7-6a03-4362-8b13-43528171c2d3.fntdata"/><Relationship Id="rIdFont20" Type="http://schemas.openxmlformats.org/officeDocument/2006/relationships/font" Target="fonts/0a3045b1-80b3-477c-a5ad-016dc80fb5bc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7C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72025" y="1974502"/>
            <a:ext cx="2647950" cy="361950"/>
          </a:xfrm>
          <a:prstGeom prst="roundRect">
            <a:avLst>
              <a:gd name="adj" fmla="val 50000"/>
            </a:avLst>
          </a:prstGeom>
          <a:solidFill>
            <a:srgbClr val="406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1862" y="4378523"/>
            <a:ext cx="5248275" cy="504825"/>
          </a:xfrm>
          <a:prstGeom prst="roundRect">
            <a:avLst>
              <a:gd name="adj" fmla="val 377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5" y="2069752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662" y="4554735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33229" y="2565052"/>
            <a:ext cx="432554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>
                <a:solidFill>
                  <a:srgbClr val="FFFFFF"/>
                </a:solidFill>
                <a:latin typeface="Plus Jakarta Sans"/>
              </a:rPr>
              <a:t>EDUCONNECT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426023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rgbClr val="BFDBFE"/>
                </a:solidFill>
                <a:latin typeface="Plus Jakarta Sans"/>
              </a:rPr>
              <a:t>Plataforma de Gestión y Acompañamiento Curricular con Tutor de IA y Comunicación Escuela-Hogar.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3006" y="2069752"/>
            <a:ext cx="245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lus Jakarta Sans"/>
              </a:rPr>
              <a:t>PROYECTO DE TÍTULO • GRUPO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3512" y="4530923"/>
            <a:ext cx="33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Plus Jakarta Sans"/>
              </a:rP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9737" y="4540448"/>
            <a:ext cx="1266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1E293B"/>
                </a:solidFill>
                <a:latin typeface="Plus Jakarta Sans"/>
              </a:rPr>
              <a:t>Gustavo Ávila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412" y="4530923"/>
            <a:ext cx="33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Plus Jakarta Sans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0159" y="4540448"/>
            <a:ext cx="1583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1E293B"/>
                </a:solidFill>
                <a:latin typeface="Plus Jakarta Sans"/>
              </a:rPr>
              <a:t>Marco Palma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487" y="4540448"/>
            <a:ext cx="1400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8585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78843"/>
            <a:ext cx="353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2178843"/>
            <a:ext cx="3530649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2178843"/>
            <a:ext cx="353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764881"/>
            <a:ext cx="353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600" y="4764881"/>
            <a:ext cx="3530649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750" y="4764881"/>
            <a:ext cx="353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7443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00" y="2407443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350" y="2407443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93481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200" y="4993481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350" y="4993481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2531268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3025" y="2531268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175" y="2531268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5117306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9213" y="5117306"/>
            <a:ext cx="2190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3225" y="5117306"/>
            <a:ext cx="1333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900" y="49530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4ED8"/>
                </a:solidFill>
                <a:latin typeface="Plus Jakarta Sans"/>
              </a:rPr>
              <a:t>NAVEGACIÓN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Hoja de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2516981"/>
            <a:ext cx="142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1. Problemática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0700" y="2516981"/>
            <a:ext cx="1200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2. Objetivos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850" y="2516981"/>
            <a:ext cx="1095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3. Solución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9700" y="5103018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4. Metodología y Cronograma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0700" y="5103018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5. Tecnologías y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850" y="5103018"/>
            <a:ext cx="240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6. Demo y Mejoras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266825" cy="228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5372100" cy="4981575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419225"/>
            <a:ext cx="5372100" cy="4981575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972841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972841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3125241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125241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95300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DC2626"/>
                </a:solidFill>
                <a:latin typeface="Plus Jakarta Sans"/>
              </a:rPr>
              <a:t>ANÁLISIS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Problemática Identificada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734841"/>
            <a:ext cx="61507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Plus Jakarta Sans"/>
              </a:rPr>
              <a:t>Sobrecarga Docente y Rezago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115841"/>
            <a:ext cx="47815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Dificultad de los docentes para realizar seguimiento individualizado en 1° y 2° Básico y atender a tiempo a alumnos rezagados en el hogar.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734841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Plus Jakarta Sans"/>
              </a:rPr>
              <a:t>Desconexión con Apoderados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115841"/>
            <a:ext cx="47815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Falta de canales centralizados e inmediatos para notificar alertas académicas críticas y mantener una comunicación directa y formal con el hogar.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10972800" cy="1213246"/>
          </a:xfrm>
          <a:prstGeom prst="roundRect">
            <a:avLst>
              <a:gd name="adj" fmla="val 15701"/>
            </a:avLst>
          </a:prstGeom>
          <a:solidFill>
            <a:srgbClr val="1E4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57200"/>
            <a:ext cx="9620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19250"/>
            <a:ext cx="1323975" cy="219075"/>
          </a:xfrm>
          <a:prstGeom prst="roundRect">
            <a:avLst>
              <a:gd name="adj" fmla="val 34782"/>
            </a:avLst>
          </a:prstGeom>
          <a:solidFill>
            <a:srgbClr val="4B6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822971"/>
            <a:ext cx="3555950" cy="1712714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2822971"/>
            <a:ext cx="3555950" cy="1712714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2822971"/>
            <a:ext cx="3556099" cy="1712714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688085"/>
            <a:ext cx="3555950" cy="1712714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7950" y="4688085"/>
            <a:ext cx="7264449" cy="1712714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13471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50" y="3013471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800" y="3013471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878585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450" y="4878585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95300"/>
            <a:ext cx="828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4ED8"/>
                </a:solidFill>
                <a:latin typeface="Plus Jakarta Sans"/>
              </a:rPr>
              <a:t>PROPÓSITO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Objetivos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1657350"/>
            <a:ext cx="1228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Plus Jakarta Sans"/>
              </a:rPr>
              <a:t>OBJETIVO GENERAL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85950"/>
            <a:ext cx="10458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Desarrollar un ecosistema digital integral que optimice el seguimiento curricular MINEDUC mediante un tutor virtual con IA y una app móvil de alertas y mensajería.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299221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Banco Curricular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518296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Actividades alineadas a los OA del MINEDUC.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450" y="3299221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Tutor Virtual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450" y="3518296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Asistencia guiada por voz y texto adaptada a niños.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800" y="3299221"/>
            <a:ext cx="39751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Accesibilidad Universal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800" y="3518296"/>
            <a:ext cx="39688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Interacción asistida por teclado y comandos de audio.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5164335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Alertas Tempranas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5383410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Notificación push inmediata de tareas y rezago escolar.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8450" y="5164335"/>
            <a:ext cx="768354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Mensajería Directa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8450" y="5383410"/>
            <a:ext cx="76835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Comunicación formal grupal e individual profesor-apoderado.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5075"/>
            <a:ext cx="10972800" cy="2733675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19250"/>
            <a:ext cx="1581150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53400" y="2886075"/>
            <a:ext cx="3048000" cy="1971675"/>
          </a:xfrm>
          <a:prstGeom prst="roundRect">
            <a:avLst>
              <a:gd name="adj" fmla="val 966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0600" y="4465141"/>
            <a:ext cx="1876425" cy="304800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81325" y="4465141"/>
            <a:ext cx="1419225" cy="304800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0" y="320992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60391"/>
            <a:ext cx="12382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725" y="4560391"/>
            <a:ext cx="76200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1657350"/>
            <a:ext cx="1447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803D"/>
                </a:solidFill>
                <a:latin typeface="Plus Jakarta Sans"/>
              </a:rPr>
              <a:t>PROPUESTA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95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Nuestra Solución: EduConnect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973883"/>
            <a:ext cx="89011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D4ED8"/>
                </a:solidFill>
                <a:latin typeface="Plus Jakarta Sans"/>
              </a:rPr>
              <a:t>Ecosistema Web y Móvil Integrado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459658"/>
            <a:ext cx="68770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>
                <a:solidFill>
                  <a:srgbClr val="475569"/>
                </a:solidFill>
                <a:latin typeface="Plus Jakarta Sans"/>
              </a:rPr>
              <a:t>EduConnect combina una plataforma web para la gestión curricular y tutoría pedagógica con IA para estudiantes y profesores, sincronizada con una aplicación móvil exclusiva para profesores y apoderados enfocada en alertas tempranas y mensajería directa.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2203" y="3895725"/>
            <a:ext cx="31503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F172A"/>
                </a:solidFill>
                <a:latin typeface="Plus Jakarta Sans"/>
              </a:rPr>
              <a:t>Tutoría Adaptativa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7212" y="4191000"/>
            <a:ext cx="3000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Plus Jakarta Sans"/>
              </a:rPr>
              <a:t>Apoyo interactivo en el hogar con voz e IA segura.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41341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F172A"/>
                </a:solidFill>
                <a:latin typeface="Plus Jakarta Sans"/>
              </a:rPr>
              <a:t>Alertas y Tareas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3725" y="4541341"/>
            <a:ext cx="120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F172A"/>
                </a:solidFill>
                <a:latin typeface="Plus Jakarta Sans"/>
              </a:rPr>
              <a:t>Mensajería Móvil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847725" cy="2286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83681"/>
            <a:ext cx="3505200" cy="2252662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83681"/>
            <a:ext cx="3505200" cy="2252662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83681"/>
            <a:ext cx="3505200" cy="2252662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8848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8848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088481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22183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221831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221831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495300"/>
            <a:ext cx="714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4338CA"/>
                </a:solidFill>
                <a:latin typeface="Plus Jakarta Sans"/>
              </a:rPr>
              <a:t>PROCESO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Metodología Utilizada: En Cascada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36181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lus Jakarta Sans"/>
              </a:rPr>
              <a:t>Modelo Secuencial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886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>
                <a:solidFill>
                  <a:srgbClr val="64748B"/>
                </a:solidFill>
                <a:latin typeface="Plus Jakarta Sans"/>
              </a:rPr>
              <a:t>Cada fase debe completarse de forma estricta antes de iniciar la siguiente etapa del proyecto.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736181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lus Jakarta Sans"/>
              </a:rPr>
              <a:t>Planificación Clara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40886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>
                <a:solidFill>
                  <a:srgbClr val="64748B"/>
                </a:solidFill>
                <a:latin typeface="Plus Jakarta Sans"/>
              </a:rPr>
              <a:t>Establece metas y requerimientos definidos desde el inicio para evitar desviaciones.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736181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lus Jakarta Sans"/>
              </a:rPr>
              <a:t>Control y Orden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40886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>
                <a:solidFill>
                  <a:srgbClr val="64748B"/>
                </a:solidFill>
                <a:latin typeface="Plus Jakarta Sans"/>
              </a:rPr>
              <a:t>Mantiene un control estricto sobre el avance y asegura orden en todo el ciclo de desarrollo.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771525"/>
            <a:ext cx="3124200" cy="342900"/>
          </a:xfrm>
          <a:prstGeom prst="roundRect">
            <a:avLst>
              <a:gd name="adj" fmla="val 388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14637"/>
            <a:ext cx="3530649" cy="211455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814637"/>
            <a:ext cx="3530649" cy="211455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947987"/>
            <a:ext cx="3530649" cy="184785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7200"/>
            <a:ext cx="132397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14637"/>
            <a:ext cx="3530649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30749" y="2814637"/>
            <a:ext cx="3530649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51899" y="2947987"/>
            <a:ext cx="35306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2850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19550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86250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52950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49" y="3752850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49" y="4019550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49" y="4286250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49" y="455295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99" y="3886200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99" y="415290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99" y="4419600"/>
            <a:ext cx="114300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10600" y="847725"/>
            <a:ext cx="2914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Plus Jakarta Sans"/>
              </a:rPr>
              <a:t>Duración Total: 16 Semanas (Plan de Estudio APT122)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95300"/>
            <a:ext cx="1190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4ED8"/>
                </a:solidFill>
                <a:latin typeface="Plus Jakarta Sans"/>
              </a:rPr>
              <a:t>PLAN DE TRABAJO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33425"/>
            <a:ext cx="51006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Cronograma del 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128962"/>
            <a:ext cx="6381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Plus Jakarta Sans"/>
              </a:rPr>
              <a:t>FASE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357562"/>
            <a:ext cx="4033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Análisis y Diseño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9349" y="3128962"/>
            <a:ext cx="657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Plus Jakarta Sans"/>
              </a:rPr>
              <a:t>FASE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9349" y="3357562"/>
            <a:ext cx="4033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Desarrollo e Integración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499" y="3262312"/>
            <a:ext cx="657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Plus Jakarta Sans"/>
              </a:rPr>
              <a:t>FASE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499" y="3490912"/>
            <a:ext cx="391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Puesta en Marcha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7290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Levantamiento de requerimientos 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957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Análisis curricular MINEDUC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2624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Diseño de arquitectura en GCP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5291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Creación de mockups Web y Móvil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9349" y="37290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Desarrollo backend y Cloud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9349" y="39957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Integración tutor IA (Gemini / TTS)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9349" y="42624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Plataforma Web interactiva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9349" y="452913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App móvil de alertas y mensajería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499" y="386238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Pruebas integrales y accesibilidad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499" y="412908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Validaciones en Google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499" y="4395787"/>
            <a:ext cx="3841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"/>
              </a:rPr>
              <a:t>Despliegue final y documentación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62262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62262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05262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4005262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0862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3090862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33862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4233862"/>
            <a:ext cx="495300" cy="49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233737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012" y="323373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87" y="4376737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437" y="4376737"/>
            <a:ext cx="2381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95300"/>
            <a:ext cx="146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A21CAF"/>
                </a:solidFill>
                <a:latin typeface="Plus Jakarta Sans"/>
              </a:rPr>
              <a:t>STACK TECNOLÓGICO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Tecnologías Utilizadas en GCP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3124200"/>
            <a:ext cx="398799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Google Cloud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381375"/>
            <a:ext cx="3798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Plus Jakarta Sans"/>
              </a:rPr>
              <a:t>Cloud Run serverless, Firebase Hosting y Cloud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650" y="3124200"/>
            <a:ext cx="40505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5650" y="3381375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Plus Jakarta Sans"/>
              </a:rPr>
              <a:t>Google Cloud SQL (MySQL) estructurado y de alta disponibilidad.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4267200"/>
            <a:ext cx="408801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Aplicación FullStack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4524375"/>
            <a:ext cx="3893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Plus Jakarta Sans"/>
              </a:rPr>
              <a:t>Plataforma Web modular y App Móvil de alertas y chat.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650" y="4267200"/>
            <a:ext cx="41255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Plus Jakarta Sans"/>
              </a:rPr>
              <a:t>Inteligencia Artificial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4524375"/>
            <a:ext cx="392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Plus Jakarta Sans"/>
              </a:rPr>
              <a:t>Vertex AI (Gemini), Cloud Text-to-Speech y Speech-to-Text.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8462"/>
            <a:ext cx="109728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14537"/>
            <a:ext cx="13049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500" y="3281362"/>
            <a:ext cx="3111549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40299" y="3281362"/>
            <a:ext cx="3111549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3281362"/>
            <a:ext cx="3111549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49" y="379571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249" y="379571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00" y="3490912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490912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299" y="3490912"/>
            <a:ext cx="3810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2052637"/>
            <a:ext cx="1171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4ED8"/>
                </a:solidFill>
                <a:latin typeface="Plus Jakarta Sans"/>
              </a:rPr>
              <a:t>DISEÑO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290762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Arquitectura del Sistema en GCP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354" y="3910012"/>
            <a:ext cx="35338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lus Jakarta Sans"/>
              </a:rPr>
              <a:t>Clientes Web y Móvil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3" y="4148137"/>
            <a:ext cx="3365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Plus Jakarta Sans"/>
              </a:rPr>
              <a:t>Web (Profesor/Alumno) | App (Profesor/Apoderado)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9154" y="3910012"/>
            <a:ext cx="35338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lus Jakarta Sans"/>
              </a:rPr>
              <a:t>Cloud Run / 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293" y="4148137"/>
            <a:ext cx="3365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Plus Jakarta Sans"/>
              </a:rPr>
              <a:t>Microservicios Docker, Cloud SQL &amp;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6953" y="3910012"/>
            <a:ext cx="35338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lus Jakarta Sans"/>
              </a:rPr>
              <a:t>Servicios Cloud &amp;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93" y="4148137"/>
            <a:ext cx="3365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Plus Jakarta Sans"/>
              </a:rPr>
              <a:t>Vertex AI Gemini, Firebase Messaging &amp; TTS/STT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7C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86325" y="2066925"/>
            <a:ext cx="2419350" cy="361950"/>
          </a:xfrm>
          <a:prstGeom prst="roundRect">
            <a:avLst>
              <a:gd name="adj" fmla="val 50000"/>
            </a:avLst>
          </a:prstGeom>
          <a:solidFill>
            <a:srgbClr val="406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7700" y="4171950"/>
            <a:ext cx="3276600" cy="619125"/>
          </a:xfrm>
          <a:prstGeom prst="roundRect">
            <a:avLst>
              <a:gd name="adj" fmla="val 27692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2171700"/>
            <a:ext cx="1143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0" y="4367212"/>
            <a:ext cx="1714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89249" y="2657475"/>
            <a:ext cx="801350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lus Jakarta Sans"/>
              </a:rPr>
              <a:t>Demostración de EduConnect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4125" y="3390900"/>
            <a:ext cx="714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BFDBFE"/>
                </a:solidFill>
                <a:latin typeface="Plus Jakarta Sans"/>
              </a:rPr>
              <a:t>Visualización del flujo integral: desde la actividad curricular con tutor IA en la web hasta la notificación de alertas y chat directo en la app móvil.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1587" y="2162175"/>
            <a:ext cx="223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lus Jakarta Sans"/>
              </a:rPr>
              <a:t>MUESTRA DEL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5843" y="4362450"/>
            <a:ext cx="2786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Plus Jakarta Sans"/>
              </a:rPr>
              <a:t>Iniciar Demo Interactiva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9810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6537"/>
            <a:ext cx="355595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2776537"/>
            <a:ext cx="355595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76537"/>
            <a:ext cx="3556099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67162"/>
            <a:ext cx="355595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7950" y="3967162"/>
            <a:ext cx="3555950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300" y="3967162"/>
            <a:ext cx="3556099" cy="1038225"/>
          </a:xfrm>
          <a:prstGeom prst="roundRect">
            <a:avLst>
              <a:gd name="adj" fmla="val 1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67037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50" y="296703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800" y="296703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1576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450" y="4157662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800" y="4157662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95300"/>
            <a:ext cx="847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F172A"/>
                </a:solidFill>
                <a:latin typeface="Plus Jakarta Sans"/>
              </a:rPr>
              <a:t>EVOLUCIÓN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334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Mejoras Futuras del Ecosistema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252787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Ampliación Curricular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471862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Cobertura a 3° y 4° Básico en Ciencias e Historia.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450" y="3252787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Alertas Predictivas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450" y="3471862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Modelos de Machine Learning para anticipar rezago.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800" y="3252787"/>
            <a:ext cx="39751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Modo Sin Conexión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800" y="3471862"/>
            <a:ext cx="39688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Soporte offline para la app móvil en zonas rurales.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443412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Evaluador Fonético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4662487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Análisis automático de fluidez lectora infantil.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450" y="4443412"/>
            <a:ext cx="41671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Firma de Comunicados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8450" y="4662487"/>
            <a:ext cx="396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Acuse de recibo y autorización formal de apoderados.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6800" y="4443412"/>
            <a:ext cx="39751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Plus Jakarta Sans"/>
              </a:rPr>
              <a:t>Integración MINEDUC (SIGE)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6800" y="4662487"/>
            <a:ext cx="39688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Plus Jakarta Sans"/>
              </a:rPr>
              <a:t>Sincronización directa con sistemas oficiales escolares.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3950" y="4362450"/>
            <a:ext cx="2324100" cy="447675"/>
          </a:xfrm>
          <a:prstGeom prst="roundRect">
            <a:avLst>
              <a:gd name="adj" fmla="val 34042"/>
            </a:avLst>
          </a:prstGeom>
          <a:solidFill>
            <a:srgbClr val="303A4B"/>
          </a:solidFill>
          <a:ln w="9525">
            <a:solidFill>
              <a:srgbClr val="4049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4787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219325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3035" y="2886075"/>
            <a:ext cx="742592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lus Jakarta Sans"/>
              </a:rPr>
              <a:t>¡Muchas Gracias por su Atención!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9437" y="3619500"/>
            <a:ext cx="595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94A3B8"/>
                </a:solidFill>
                <a:latin typeface="Plus Jakarta Sans"/>
              </a:rPr>
              <a:t>EDUCONNECT — Potenciando el Aprendizaje y Conectando Escuela y Hogar.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137" y="4476750"/>
            <a:ext cx="23717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1F5F9"/>
                </a:solidFill>
                <a:latin typeface="Plus Jakarta Sans"/>
              </a:rPr>
              <a:t>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